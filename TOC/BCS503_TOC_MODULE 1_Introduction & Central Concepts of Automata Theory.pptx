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9" r:id="rId1"/>
  </p:sldMasterIdLst>
  <p:notesMasterIdLst>
    <p:notesMasterId r:id="rId46"/>
  </p:notesMasterIdLst>
  <p:sldIdLst>
    <p:sldId id="256" r:id="rId2"/>
    <p:sldId id="313" r:id="rId3"/>
    <p:sldId id="308" r:id="rId4"/>
    <p:sldId id="314" r:id="rId5"/>
    <p:sldId id="295" r:id="rId6"/>
    <p:sldId id="304" r:id="rId7"/>
    <p:sldId id="296" r:id="rId8"/>
    <p:sldId id="272" r:id="rId9"/>
    <p:sldId id="299" r:id="rId10"/>
    <p:sldId id="300" r:id="rId11"/>
    <p:sldId id="283" r:id="rId12"/>
    <p:sldId id="274" r:id="rId13"/>
    <p:sldId id="278" r:id="rId14"/>
    <p:sldId id="297" r:id="rId15"/>
    <p:sldId id="279" r:id="rId16"/>
    <p:sldId id="301" r:id="rId17"/>
    <p:sldId id="280" r:id="rId18"/>
    <p:sldId id="257" r:id="rId19"/>
    <p:sldId id="258" r:id="rId20"/>
    <p:sldId id="259" r:id="rId21"/>
    <p:sldId id="260" r:id="rId22"/>
    <p:sldId id="261" r:id="rId23"/>
    <p:sldId id="276" r:id="rId24"/>
    <p:sldId id="277" r:id="rId25"/>
    <p:sldId id="315" r:id="rId26"/>
    <p:sldId id="262" r:id="rId27"/>
    <p:sldId id="263" r:id="rId28"/>
    <p:sldId id="281" r:id="rId29"/>
    <p:sldId id="282" r:id="rId30"/>
    <p:sldId id="302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307" r:id="rId40"/>
    <p:sldId id="309" r:id="rId41"/>
    <p:sldId id="292" r:id="rId42"/>
    <p:sldId id="311" r:id="rId43"/>
    <p:sldId id="312" r:id="rId44"/>
    <p:sldId id="31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5" autoAdjust="0"/>
    <p:restoredTop sz="94660"/>
  </p:normalViewPr>
  <p:slideViewPr>
    <p:cSldViewPr snapToGrid="0">
      <p:cViewPr varScale="1">
        <p:scale>
          <a:sx n="70" d="100"/>
          <a:sy n="70" d="100"/>
        </p:scale>
        <p:origin x="-61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3095A-F326-4F8C-BCBE-4E95DAD1B6B8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A25DE-6765-4765-AB76-461606A5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0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A25DE-6765-4765-AB76-461606A5B6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0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7AD95C7-028D-4802-9247-3549DF220F44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59793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3526-9D38-443C-8889-5AC1FA0310C5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6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DFAC0E-0DA4-4A26-8C8C-2DA8F52DFDC8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73771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6A97B-E838-4180-8E5E-5D8C555AB4DB}" type="datetime1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9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638B-7331-4F5D-B690-2D927CD7B7F2}" type="datetime1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4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C82A-5827-4AB1-B103-CD4249D79C69}" type="datetime1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247B4-73FB-426C-8C78-E2232FAD7E23}" type="datetime1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6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87119D-B4BD-4B0E-BA8B-F82644BC0607}" type="datetime1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713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679F95-2C2D-4B13-B8BC-39DE5589DEAF}" type="datetime1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953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4D2B-1A65-4F07-83E8-B69E2716591D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4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B14-6240-4C8D-B5F5-453CA3EB5427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8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6022215-43FA-4E91-AADE-B742CC8B45F8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B10C2C5-948C-47A9-87B8-73EF09F8A89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787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nthanuja/hom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5839" y="177423"/>
            <a:ext cx="8047228" cy="219728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COMPUTATION</a:t>
            </a:r>
            <a:b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BCS503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716" y="4604547"/>
            <a:ext cx="6168788" cy="1816725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N. Thanuja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R. Road, V. V. Puram, Bengaluru-560004.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82072"/>
              </p:ext>
            </p:extLst>
          </p:nvPr>
        </p:nvGraphicFramePr>
        <p:xfrm>
          <a:off x="1637729" y="2848714"/>
          <a:ext cx="88634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7220"/>
                <a:gridCol w="3486244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Teaching Hours/Week (L:T:P:S) - 3:2:0:0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CIE Marks - 50 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Total Hours of Pedagogy - 50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SEE Marks - 50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Credits - 04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Total Marks - 100 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1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544" y="194481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Assessment Details </a:t>
            </a:r>
            <a:b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(CIE and SEE)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1583140"/>
            <a:ext cx="10215349" cy="5049672"/>
          </a:xfrm>
        </p:spPr>
        <p:txBody>
          <a:bodyPr>
            <a:normAutofit/>
          </a:bodyPr>
          <a:lstStyle/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Continuous Internal Evaluation (CIE) is 50%.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Minimum passing mark for the CIE is 40% of the maximum marks (20/50 marks). 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Semester End Exam (SEE) is 50%. 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Minimum passing mark for the SEE is 35% of the maximum marks (18/50 marks). 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Minimum of 40% (40/100 marks) 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CIE + SEE = 40/100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657" y="249071"/>
            <a:ext cx="9601200" cy="7608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Continuous Internal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4305" y="1091820"/>
            <a:ext cx="10351826" cy="551369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CIE = Internal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Assessment Test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Component + Assignment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50 Marks = 25 Marks + 25 Marks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first test will be administered after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40-50%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the syllabus has been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covered.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second test will be administered after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85-90%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the syllabus has been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covered.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CIE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marks will be based on 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scaled-down sum of two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tests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other methods of assessment.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Assignment 1 – Build different types of machines by using Open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source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tool JFLAP -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10 Marks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Assignment 2 – RBTL 4 -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5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952" y="221776"/>
            <a:ext cx="9601200" cy="70627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Semester End </a:t>
            </a:r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037230"/>
            <a:ext cx="10297236" cy="559558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Theory SEE will be conducted by University as per the scheduled timetable, with common question papers for the course (duration 03 hours).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question paper will have ten questions.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question is set for 20 marks.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will be 2 questions from each module.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the two questions under a module (with a maximum of 3 sub-questions), should have a mix of topics under that module.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students have to answer 5 full questions, selecting one full question from each module.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Marks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scored shall be proportionally reduced to 50 marks..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6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68941"/>
            <a:ext cx="9601200" cy="76648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035423"/>
            <a:ext cx="10313894" cy="529814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problematic subject.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concentration is required in the class.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separate note book for the subject to solve problems.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regular to the classes in order to understand the concepts clearly.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is more important.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Materials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available in Google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5288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(Notes, Recorded Videos, Previous year Question Papers, Lesson       Plan and Previous year Internal Questions papers with answers)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4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48" y="109182"/>
            <a:ext cx="10570193" cy="6619164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</a:p>
          <a:p>
            <a:pPr lvl="0">
              <a:lnSpc>
                <a:spcPct val="150000"/>
              </a:lnSpc>
            </a:pP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Structures and Applications (BCS304)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Discrete Mathematical Structures (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BCS405A)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ctr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Google Sites </a:t>
            </a:r>
          </a:p>
          <a:p>
            <a:pPr lvl="0">
              <a:lnSpc>
                <a:spcPct val="150000"/>
              </a:lnSpc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https://sites.google.com/view/nthanuja/home</a:t>
            </a:r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Beginning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  <a:p>
            <a:pPr marL="0" lvl="0" indent="0" algn="ctr">
              <a:lnSpc>
                <a:spcPct val="150000"/>
              </a:lnSpc>
              <a:buNone/>
            </a:pPr>
            <a:endParaRPr lang="en-US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7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1365"/>
            <a:ext cx="9601200" cy="65890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47417"/>
            <a:ext cx="10206318" cy="564164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Automata Theory?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</a:t>
            </a:r>
            <a:r>
              <a:rPr lang="en-US" sz="25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Machines </a:t>
            </a:r>
            <a:r>
              <a:rPr lang="en-US" sz="2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5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Devices</a:t>
            </a:r>
            <a:r>
              <a:rPr lang="en-US" sz="2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Abstract Machine?</a:t>
            </a:r>
          </a:p>
          <a:p>
            <a:pPr lvl="1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Abstract Machine, also called an </a:t>
            </a:r>
            <a:r>
              <a:rPr lang="en-US" sz="25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Computer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is a theoretical model of a computer hardware or software system used in automata theory.</a:t>
            </a: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abstract machine consists of a definition in terms of </a:t>
            </a:r>
            <a:r>
              <a:rPr lang="en-US" sz="25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set of allowable </a:t>
            </a:r>
            <a:r>
              <a:rPr lang="en-US" sz="25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turn the former into the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894" y="376518"/>
            <a:ext cx="10690412" cy="617220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Automata 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 a major role in 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fields</a:t>
            </a: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heory 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ompiler construction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US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endParaRPr lang="en-US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ormal Verification &amp; 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nalyze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complexity of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 marL="463550" indent="-4635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 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(the plural of 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comes from the Greek word which means "self-making".</a:t>
            </a:r>
          </a:p>
          <a:p>
            <a:pPr marL="9144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4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446" y="1102659"/>
            <a:ext cx="10555941" cy="441063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Language?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human communication, either spoken or written,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consisting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use of words in a structured and conventional way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Grammar?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system and structure of a language or of languages in general,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usually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as consisting of syntax and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8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340" y="820269"/>
            <a:ext cx="10555941" cy="51490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rules, principles, and processes that govern the structure of sentences in a given language, usually including word order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arrangement of words and phrases to create well-formed sentences in a language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Semantics: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concerned with the relationship between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signifiers like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words, phrases, signs, and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symbols.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3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718" y="1168679"/>
            <a:ext cx="5253133" cy="504216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39988" y="218253"/>
            <a:ext cx="49622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Chomsky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8869" y="1168679"/>
            <a:ext cx="4477871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Chomsky hierarchy is a containment hierarchy of classes of formal grammars. 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grammars was described by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Noam Chomsky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1956.</a:t>
            </a:r>
          </a:p>
        </p:txBody>
      </p:sp>
    </p:spTree>
    <p:extLst>
      <p:ext uri="{BB962C8B-B14F-4D97-AF65-F5344CB8AC3E}">
        <p14:creationId xmlns:p14="http://schemas.microsoft.com/office/powerpoint/2010/main" val="194174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036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DIFFERENNT TYPES OF GRAMMARS &amp;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ANGUAGES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047489"/>
              </p:ext>
            </p:extLst>
          </p:nvPr>
        </p:nvGraphicFramePr>
        <p:xfrm>
          <a:off x="1161332" y="1807377"/>
          <a:ext cx="10515600" cy="4552480"/>
        </p:xfrm>
        <a:graphic>
          <a:graphicData uri="http://schemas.openxmlformats.org/drawingml/2006/table">
            <a:tbl>
              <a:tblPr firstRow="1" bandRow="1"/>
              <a:tblGrid>
                <a:gridCol w="139401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021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180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0147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980861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Phrase Structured / Unrestricted Grammar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Recursively Enumerable Language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Turing Machines (TM)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[Module 5\</a:t>
                      </a:r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68991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1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Sensitive Grammar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Sensitive Language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Bounded Automata (LBA) </a:t>
                      </a:r>
                    </a:p>
                    <a:p>
                      <a:pPr algn="l"/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91821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2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Free Grammar (CFG) 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[Module 3 &amp; 4]</a:t>
                      </a:r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Free Language (CFL) 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[Module 3 &amp; 4]</a:t>
                      </a:r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Pushdown Automata (PDA)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[Module 3]</a:t>
                      </a:r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73958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3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Grammar (RG)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[Module 1 &amp; 2]</a:t>
                      </a:r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Language (RL) </a:t>
                      </a:r>
                    </a:p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Regular Expressions (RE)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[Module 2]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Finite Automata (FA) </a:t>
                      </a:r>
                    </a:p>
                    <a:p>
                      <a:pPr algn="l"/>
                      <a:r>
                        <a:rPr lang="en-US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[Module 1]</a:t>
                      </a:r>
                    </a:p>
                    <a:p>
                      <a:pPr algn="l"/>
                      <a:endParaRPr 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859" y="399035"/>
            <a:ext cx="10515600" cy="60543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 MACHINES</a:t>
            </a:r>
          </a:p>
          <a:p>
            <a:pPr marL="0" indent="0" algn="ctr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DFA 		              NFA 		              ℇ-NFA  </a:t>
            </a:r>
          </a:p>
          <a:p>
            <a:pPr marL="0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DFA		Deterministic Finite Automata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NFA		Non-Deterministic Finite Automata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ℇ-NFA		Non-Deterministic Finite Automata with ℇ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ransitions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3012141" y="1452282"/>
            <a:ext cx="5809130" cy="403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012141" y="1492624"/>
            <a:ext cx="0" cy="7261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839200" y="1452282"/>
            <a:ext cx="0" cy="7261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36024" y="874059"/>
            <a:ext cx="0" cy="13245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9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099" y="252885"/>
            <a:ext cx="5831408" cy="627647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325"/>
            <a:ext cx="10515600" cy="6589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224" y="1021977"/>
            <a:ext cx="10515600" cy="5540187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Machines (FSM)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Parity Checkers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Security Devices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Vending Machines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Communication Protocols – Languages – HTML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Video Games (Pac-Man)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Lights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7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30" y="497542"/>
            <a:ext cx="10515600" cy="5540187"/>
          </a:xfrm>
        </p:spPr>
        <p:txBody>
          <a:bodyPr>
            <a:noAutofit/>
          </a:bodyPr>
          <a:lstStyle/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Parsing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Controllers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Analysis (TCP)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</a:p>
          <a:p>
            <a:pPr algn="just">
              <a:lnSpc>
                <a:spcPct val="170000"/>
              </a:lnSpc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 and Context Free Grammars (FSM &amp; CFG)</a:t>
            </a:r>
          </a:p>
          <a:p>
            <a:pPr marL="806450" indent="-34925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Computations (Molecules, Proteins)</a:t>
            </a: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4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906" y="295835"/>
            <a:ext cx="10515600" cy="626633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10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CFG : </a:t>
            </a: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document the </a:t>
            </a:r>
            <a:r>
              <a:rPr lang="en-US" sz="10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syntax </a:t>
            </a: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they form the basis for the parsing techniques that </a:t>
            </a:r>
            <a:r>
              <a:rPr lang="en-US" sz="10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compilers </a:t>
            </a: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use. </a:t>
            </a:r>
          </a:p>
          <a:p>
            <a:pPr algn="just">
              <a:lnSpc>
                <a:spcPct val="170000"/>
              </a:lnSpc>
            </a:pPr>
            <a:r>
              <a:rPr lang="en-US" sz="10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</a:p>
          <a:p>
            <a:pPr marL="511175" indent="-282575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  <a:p>
            <a:pPr marL="968375" indent="-457200"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Translators</a:t>
            </a:r>
          </a:p>
          <a:p>
            <a:pPr marL="968375" indent="-457200"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program to manage words and check grammars</a:t>
            </a:r>
          </a:p>
          <a:p>
            <a:pPr marL="511175" indent="-282575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</a:t>
            </a:r>
            <a:r>
              <a:rPr lang="en-US" sz="10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modern programming languages </a:t>
            </a: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rely heavily on the theory of CFL’s.</a:t>
            </a:r>
          </a:p>
          <a:p>
            <a:pPr algn="just">
              <a:lnSpc>
                <a:spcPct val="170000"/>
              </a:lnSpc>
            </a:pPr>
            <a:r>
              <a:rPr lang="en-US" sz="10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Undecideability and Interactability : </a:t>
            </a:r>
            <a:r>
              <a:rPr lang="en-US" sz="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Artificial Intelligence (AI)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6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4353"/>
            <a:ext cx="10515600" cy="6299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6789"/>
            <a:ext cx="10515600" cy="59042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Introduction to Finite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Structural Representations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Automata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Complexity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Central Concepts of Automata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Theory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Deterministic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Finite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Nondeterministic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Finite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Application: Text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Search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Finite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Automata with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Epsilon-Transitions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BOOK: Sections 1.1, 1.5, 2.2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, 2.3, 2.4, 2.5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1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0981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Continued..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553" y="1023581"/>
            <a:ext cx="10515600" cy="56365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2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Regular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Expressions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Finite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Automata and Regular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Expressions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Proving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Languages not to be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Regular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Closure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Properties of Regular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Languages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Equivalence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Minimization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Automata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Applications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Regular Expressions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BOOK: Sections 3.1,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3.2(Except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3.2.1), 3.3, 4.1, 4.2, 4.4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4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43404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Continued..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6161"/>
            <a:ext cx="10515600" cy="585488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3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Context-Free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Grammars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Parse Trees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Ambiguity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in Grammars and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Languages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Ambiguity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in Grammars and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Languages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Definition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of the Pushdown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Languages of a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PDA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Equivalence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of PDA's and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CFG's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Deterministic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Pushdown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Automata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BOOK: Sections 5.1, 5.2, 5.4, 6.1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, 6.2, 6.3.1, 6.4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2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1064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Continued..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236"/>
            <a:ext cx="10515600" cy="516367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4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Normal Forms for Context-Free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Grammars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Pumping Lemma for Context-Free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Languages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Closure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Properties of Context-Free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Languages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TEXT BOOK: Sections 7.1, 7.2, 7.3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0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37534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Continued..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3457"/>
            <a:ext cx="10515600" cy="58366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5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 to Turing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Machines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Problems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That Computers Cannot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Solve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Turing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Machine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Programming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Techniques for Turing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Machines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Extensions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the Basic Turing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Machine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Undecideability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Language That Is Not Recursively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Enumerable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BOOK: Sections 8.1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, 8.2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, 8.3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, 8.4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, 9.1, 9.2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6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828" y="237647"/>
            <a:ext cx="9601200" cy="66562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514" y="876174"/>
            <a:ext cx="3425587" cy="5702047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John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Hopcroft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Rajeev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Motwani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Jeffrey D. Ullman,“ Introduction to Automata Theory, Languages and Computation”,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Second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Edition, Pearson.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009" y="913805"/>
            <a:ext cx="3710507" cy="563202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227" y="954178"/>
            <a:ext cx="3739487" cy="5591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109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631"/>
            <a:ext cx="10515600" cy="8316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23582"/>
            <a:ext cx="11021705" cy="5531258"/>
          </a:xfrm>
        </p:spPr>
        <p:txBody>
          <a:bodyPr>
            <a:noAutofit/>
          </a:bodyPr>
          <a:lstStyle/>
          <a:p>
            <a:pPr marL="457200" lvl="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Elain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Rich, “Automata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Computability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Complexity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Edition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Pearson Education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2018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K. L. P.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Mishra,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N.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Chandrashekaran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Edition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‘Theory of Computer Science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”, PHI, 2012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Peter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Linz, “An introduction to Formal Languages and Automata “,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Edition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Narosa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Publishers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1998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Michael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Sipser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“Introduction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the Theory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Computation”, 3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Edition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Learning, 2013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John C.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Martin,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“Introduction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Languages and The Theory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Computation”, 3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Edition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Tata McGraw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Hill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Publishing Company Limited, 2013.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2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Web links and Video Lectures </a:t>
            </a: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e-Resources)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://archive.nptel.ac.in/courses/106/105/106105196/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://archive.nptel.ac.in/courses/106/106/106106049/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://nptelvideos.com/course.php?id=717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6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248" y="194480"/>
            <a:ext cx="9601200" cy="7395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LEARNING OBJECTIVES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940691"/>
            <a:ext cx="10570191" cy="5623882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CLO1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Introduce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core concepts in Automata and Theory of Computation.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CLO2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Identify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different Formal Language Classes and their Relationships.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CLO3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Learn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concepts of Grammars and Recognizers for different formal languages.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CLO4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Prove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or disprove theorems in automata theory using their properties.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CLO5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Determine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the decidability and intractability of Computational problems.</a:t>
            </a:r>
            <a:endParaRPr lang="en-US" sz="2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7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330" y="110125"/>
            <a:ext cx="10515600" cy="685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30" y="906049"/>
            <a:ext cx="10515600" cy="5549342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At the end of the course, the student will be able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to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CO1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Apply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the fundamentals of automata theory to write DFA, NFA, Epsilon-NFA and conversion between them.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CO2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Prove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the properties of regular languages using regular expressions.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CO3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Build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context-free grammars (CFGs) and pushdown automata (PDAs) for formal languages.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CO4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Construct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Turing machines to solve the computational problems.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CO5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 Explain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the concepts of decidability and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Undecideability. 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0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470"/>
            <a:ext cx="10515600" cy="78973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THEORY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824" y="924205"/>
            <a:ext cx="10515600" cy="570837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SET?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set is a collection of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elements.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elements of the set should be enclosed between { &amp; } and separated by commas.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positive integers greater than 0 and less than or equal to 25 which are divisible by 5 can be represented as</a:t>
            </a:r>
          </a:p>
          <a:p>
            <a:pPr marL="457200" algn="ctr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= { 5, 10, 15, 20, 25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of a set can be in any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25929"/>
            <a:ext cx="10515600" cy="6027457"/>
          </a:xfrm>
        </p:spPr>
        <p:txBody>
          <a:bodyPr>
            <a:normAutofit fontScale="92500" lnSpcReduction="10000"/>
          </a:bodyPr>
          <a:lstStyle/>
          <a:p>
            <a:pPr marL="457200" algn="just">
              <a:lnSpc>
                <a:spcPct val="150000"/>
              </a:lnSpc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is useful if the number of elements are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less.</a:t>
            </a:r>
          </a:p>
          <a:p>
            <a:pPr marL="457200" algn="just">
              <a:lnSpc>
                <a:spcPct val="150000"/>
              </a:lnSpc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can also be represented by describing the </a:t>
            </a:r>
            <a:r>
              <a:rPr lang="en-US" sz="27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elements if the number of elements are more.</a:t>
            </a:r>
          </a:p>
          <a:p>
            <a:pPr marL="457200" algn="ctr">
              <a:lnSpc>
                <a:spcPct val="150000"/>
              </a:lnSpc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5x | x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positive integer where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&lt; x ≤ 25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0" algn="just"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are denoted by capital letters.</a:t>
            </a:r>
          </a:p>
          <a:p>
            <a:pPr marL="457200" algn="just"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within the set are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letters.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Empty Set / Null Set?</a:t>
            </a:r>
          </a:p>
          <a:p>
            <a:pPr marL="457200" algn="just">
              <a:lnSpc>
                <a:spcPct val="150000"/>
              </a:lnSpc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set which has no elements, denoted by { } or </a:t>
            </a:r>
            <a:r>
              <a:rPr lang="en-US" sz="2400" dirty="0"/>
              <a:t>Ø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algn="just">
              <a:lnSpc>
                <a:spcPct val="150000"/>
              </a:lnSpc>
            </a:pPr>
            <a:r>
              <a:rPr lang="en-US" sz="27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 = </a:t>
            </a:r>
            <a:r>
              <a:rPr lang="en-US" sz="2400" dirty="0"/>
              <a:t>Ø</a:t>
            </a:r>
            <a:r>
              <a:rPr lang="hy-AM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S = { }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0930" y="242047"/>
            <a:ext cx="10515600" cy="630667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Subset?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A is a subset of set B if every element </a:t>
            </a:r>
          </a:p>
          <a:p>
            <a:pPr marL="73152"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of set A is an element of set B, denoted by A</a:t>
            </a:r>
            <a:r>
              <a:rPr lang="en-US" sz="2400" dirty="0"/>
              <a:t> ⊆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  <a:p>
            <a:pPr marL="73152" indent="0" algn="just">
              <a:lnSpc>
                <a:spcPct val="150000"/>
              </a:lnSpc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Proper subset?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</a:t>
            </a:r>
            <a:r>
              <a:rPr lang="en-US" sz="2400" dirty="0"/>
              <a:t> ⊆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and B contains an element which is </a:t>
            </a:r>
          </a:p>
          <a:p>
            <a:pPr marL="73152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not in A, then A is a Proper subset of B,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denoted by A</a:t>
            </a:r>
            <a:r>
              <a:rPr lang="en-US" sz="2400" dirty="0"/>
              <a:t> ⊂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746591"/>
            <a:ext cx="2820521" cy="2172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3694145"/>
            <a:ext cx="3212446" cy="24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7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0930" y="242047"/>
            <a:ext cx="10515600" cy="630667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say that two sets are equal?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two sets A and B are same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400" dirty="0"/>
              <a:t> ⊆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and B</a:t>
            </a:r>
            <a:r>
              <a:rPr lang="en-US" sz="2400" dirty="0"/>
              <a:t> ⊆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element of set A is an element of set B and every element of set B is also an element of set A.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{ a, b, c } and B = { a, b, c } then A = B.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Power set?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all subsets of set A, denoted by </a:t>
            </a:r>
            <a:r>
              <a:rPr lang="en-US" sz="2400" dirty="0"/>
              <a:t>2</a:t>
            </a:r>
            <a:r>
              <a:rPr lang="en-US" sz="2400" baseline="30000" dirty="0"/>
              <a:t>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{ 1, 2, 3 }</a:t>
            </a:r>
          </a:p>
          <a:p>
            <a:pPr marL="457200" algn="just">
              <a:lnSpc>
                <a:spcPct val="150000"/>
              </a:lnSpc>
            </a:pPr>
            <a:r>
              <a:rPr lang="en-US" sz="2400" dirty="0"/>
              <a:t>2</a:t>
            </a:r>
            <a:r>
              <a:rPr lang="en-US" sz="2400" baseline="30000" dirty="0"/>
              <a:t>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{}, {1}, {2}, {3}, {1,2}, {1,3}, {2,3}, {1,2,3}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|A| =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3, |</a:t>
            </a:r>
            <a:r>
              <a:rPr lang="en-US" sz="2400" dirty="0" smtClean="0"/>
              <a:t> </a:t>
            </a:r>
            <a:r>
              <a:rPr lang="en-US" sz="2400" dirty="0"/>
              <a:t>2</a:t>
            </a:r>
            <a:r>
              <a:rPr lang="en-US" sz="2400" baseline="30000" dirty="0"/>
              <a:t>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8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9565" y="1116106"/>
            <a:ext cx="10515600" cy="441063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Cartesian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or Cross Product of two sets?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Cartesian product of A and B is given by</a:t>
            </a:r>
          </a:p>
          <a:p>
            <a:pPr indent="0" algn="ctr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 B</a:t>
            </a:r>
            <a:r>
              <a:rPr lang="en-US" sz="2500" dirty="0" smtClean="0"/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{ (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| a</a:t>
            </a:r>
            <a:r>
              <a:rPr lang="en-US" sz="2500" dirty="0" smtClean="0"/>
              <a:t> </a:t>
            </a:r>
            <a:r>
              <a:rPr lang="en-US" sz="2500" dirty="0"/>
              <a:t>∈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sz="2500" dirty="0"/>
              <a:t> ∈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 }, (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an ordered pair.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{ a, b, c } and B = { 0, 1 }</a:t>
            </a:r>
          </a:p>
          <a:p>
            <a:pPr marL="73152"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{ (a,0), (a,1), (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,0), (b,1), (c,0), (c,1) }</a:t>
            </a:r>
          </a:p>
          <a:p>
            <a:pPr marL="73152"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3 * 2 = 6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2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18"/>
            <a:ext cx="10515600" cy="656216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Union of two sets?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Union of two sets A and B is given by 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lang="en-US" sz="2400" dirty="0"/>
              <a:t> ⋃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{ x | x</a:t>
            </a:r>
            <a:r>
              <a:rPr lang="en-US" sz="2400" dirty="0"/>
              <a:t> ∈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or x</a:t>
            </a:r>
            <a:r>
              <a:rPr lang="en-US" sz="2400" dirty="0"/>
              <a:t> ∈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= { a, b, c } and B = { 0, 1 } 	</a:t>
            </a:r>
          </a:p>
          <a:p>
            <a:pPr marL="73152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lang="en-US" sz="2400" dirty="0" smtClean="0"/>
              <a:t> </a:t>
            </a:r>
            <a:r>
              <a:rPr lang="en-US" sz="2400" dirty="0"/>
              <a:t>⋃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{ a, b, c, 0, 1 }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Intersection of two sets?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intersection of two sets A and B is given by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</a:t>
            </a:r>
            <a:r>
              <a:rPr lang="en-US" sz="2400" dirty="0"/>
              <a:t> ⋂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{ x | x</a:t>
            </a:r>
            <a:r>
              <a:rPr lang="en-US" sz="2400" dirty="0"/>
              <a:t> ∈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x</a:t>
            </a:r>
            <a:r>
              <a:rPr lang="en-US" sz="2400" dirty="0"/>
              <a:t> ∈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{ a, b, c } and B = { c, d, e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}, A</a:t>
            </a:r>
            <a:r>
              <a:rPr lang="en-US" sz="2400" dirty="0" smtClean="0"/>
              <a:t> </a:t>
            </a:r>
            <a:r>
              <a:rPr lang="en-US" sz="2400" dirty="0"/>
              <a:t>⋂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{ c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common elements in both the sets A and B.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189" y="345483"/>
            <a:ext cx="2911972" cy="2797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978" y="3250565"/>
            <a:ext cx="2781822" cy="309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69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7918"/>
            <a:ext cx="11032883" cy="657561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Disjoint Sets?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two sets A and B have no common elements then the two sets are called Disjoint Sets.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= { a, b, c } and B = { 0,1 } 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A</a:t>
            </a:r>
            <a:r>
              <a:rPr lang="en-US" sz="2400" dirty="0" smtClean="0"/>
              <a:t> </a:t>
            </a:r>
            <a:r>
              <a:rPr lang="en-US" sz="2400" dirty="0"/>
              <a:t>⋂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sz="2400" dirty="0"/>
              <a:t> Ø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of two sets?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of two sets A and B is given by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 - B = { x | x</a:t>
            </a:r>
            <a:r>
              <a:rPr lang="en-US" sz="2400" dirty="0"/>
              <a:t> ∈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and x</a:t>
            </a:r>
            <a:r>
              <a:rPr lang="en-US" sz="2400" dirty="0"/>
              <a:t> ∉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= { a, b, c, d }and B = { a, d }, A-B = { b, c }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887" y="1537446"/>
            <a:ext cx="5402196" cy="2106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611" y="3643638"/>
            <a:ext cx="3017471" cy="28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18"/>
            <a:ext cx="10515600" cy="6508376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Complement of a set?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set containing everything that is not in A, denoted by </a:t>
            </a:r>
            <a:r>
              <a:rPr lang="en-US" sz="2500" dirty="0" smtClean="0"/>
              <a:t>A</a:t>
            </a:r>
            <a:r>
              <a:rPr lang="en-US" sz="2500" baseline="30000" dirty="0" smtClean="0"/>
              <a:t>c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500" dirty="0" smtClean="0"/>
              <a:t>A‘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/>
              <a:t>A</a:t>
            </a:r>
            <a:r>
              <a:rPr lang="en-US" sz="2500" dirty="0" smtClean="0"/>
              <a:t>‘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U - A where U is the universal set.</a:t>
            </a:r>
          </a:p>
          <a:p>
            <a:pPr marL="457200" algn="just">
              <a:lnSpc>
                <a:spcPct val="150000"/>
              </a:lnSpc>
            </a:pPr>
            <a:r>
              <a:rPr lang="en-US" sz="2500" dirty="0"/>
              <a:t>A</a:t>
            </a:r>
            <a:r>
              <a:rPr lang="en-US" sz="2500" dirty="0" smtClean="0"/>
              <a:t>‘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{ x | x</a:t>
            </a:r>
            <a:r>
              <a:rPr lang="en-US" sz="2400" dirty="0"/>
              <a:t> ∈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 and x</a:t>
            </a:r>
            <a:r>
              <a:rPr lang="en-US" sz="2400" dirty="0" smtClean="0"/>
              <a:t> </a:t>
            </a:r>
            <a:r>
              <a:rPr lang="en-US" sz="2400" dirty="0"/>
              <a:t>∉ </a:t>
            </a:r>
            <a:r>
              <a:rPr lang="en-US" sz="2400" dirty="0" smtClean="0"/>
              <a:t>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457200" algn="just">
              <a:lnSpc>
                <a:spcPct val="150000"/>
              </a:lnSpc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 = { 1, 2, 3, 4, 5, 6 } and A = { 1, 2 }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500" dirty="0" smtClean="0"/>
              <a:t>			A‘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{ 3, 4, 5, 6 }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460" y="2572192"/>
            <a:ext cx="4076140" cy="38811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52" y="4565632"/>
            <a:ext cx="3269037" cy="188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8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2909"/>
            <a:ext cx="10515600" cy="7395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1977"/>
            <a:ext cx="10515600" cy="535193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</a:p>
          <a:p>
            <a:pPr marL="5715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alphabet is a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finite, nonempty set of symbols or characters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denoted by the symbol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English alphabet 	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 =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a, b, c, …., z }</a:t>
            </a:r>
          </a:p>
          <a:p>
            <a:pPr indent="0" algn="just">
              <a:lnSpc>
                <a:spcPct val="20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Binary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lphabet 	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 =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0, 1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3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364"/>
            <a:ext cx="10515600" cy="654871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(or sometimes word) is a finite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sequence, possibly empty, of 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symbols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chosen from 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any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alphabet,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shortest string that can be formed from is the 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written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ℇ.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string with zero occurrence of symbols.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English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 = { a, b, …., z } Strings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ℇ, a, b,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…		Binary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∑ = { 0, 1 }	Strings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ℇ, 0, 00, 111, …..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1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565" y="228600"/>
            <a:ext cx="10515600" cy="68374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ON STRINGS</a:t>
            </a:r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9565" y="912346"/>
            <a:ext cx="10515600" cy="530019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5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of a String</a:t>
            </a:r>
          </a:p>
          <a:p>
            <a:pPr marL="457200" indent="-3365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string s, is the number of positions for symbols in the string (number of symbols in s), denoted as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 s |.</a:t>
            </a:r>
          </a:p>
          <a:p>
            <a:pPr marL="457200" indent="-3365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| ℇ | = 0		| 1001101 | = 7</a:t>
            </a:r>
          </a:p>
          <a:p>
            <a:pPr marL="457200" indent="-3365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any symbol c and string s, the function 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(s)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be the number of times that the symbol occurs in s.</a:t>
            </a:r>
          </a:p>
          <a:p>
            <a:pPr marL="457200" indent="-3365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abbaaa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4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706"/>
            <a:ext cx="10515600" cy="649492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of an Alphabet</a:t>
            </a:r>
          </a:p>
          <a:p>
            <a:pPr marL="914400" indent="-4508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denoted by ∑</a:t>
            </a:r>
            <a:r>
              <a:rPr lang="en-US" sz="2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is 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strings 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length 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each of whose symbols is in ∑.</a:t>
            </a:r>
          </a:p>
          <a:p>
            <a:pPr marL="914400" indent="-4508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b, c}</a:t>
            </a:r>
          </a:p>
          <a:p>
            <a:pPr marL="463550" indent="0" algn="just">
              <a:lnSpc>
                <a:spcPct val="150000"/>
              </a:lnSpc>
              <a:buNone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5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ℇ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∑</a:t>
            </a:r>
            <a:r>
              <a:rPr lang="en-US" sz="25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{a, b, c}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∑</a:t>
            </a:r>
            <a:r>
              <a:rPr lang="en-US" sz="25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ac,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cc}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∑</a:t>
            </a:r>
            <a:r>
              <a:rPr lang="en-US" sz="25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				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bcc,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cab,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cbc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				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ccb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ccc} and so on</a:t>
            </a:r>
          </a:p>
          <a:p>
            <a:pPr marL="46355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26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lnSpc>
                <a:spcPct val="150000"/>
              </a:lnSpc>
              <a:buNone/>
            </a:pPr>
            <a:endParaRPr lang="en-US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05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464025"/>
            <a:ext cx="10106167" cy="61005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500" dirty="0">
                <a:latin typeface="Times New Roman" pitchFamily="18" charset="0"/>
                <a:cs typeface="Times New Roman" panose="02020603050405020304" pitchFamily="18" charset="0"/>
              </a:rPr>
              <a:t>The set of all possible strings over an alphabet  ∑ is written as ∑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∑ = {0, 1} then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= {ℇ, 0, 1, 00, 01, 10, 11, 000, ….}</a:t>
            </a:r>
          </a:p>
          <a:p>
            <a:pPr marL="1901952" lvl="4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1901952" lvl="4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= ∑</a:t>
            </a:r>
            <a:r>
              <a:rPr lang="en-US" sz="25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⋃ ∑</a:t>
            </a:r>
            <a:r>
              <a:rPr lang="en-US" sz="25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⋃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∑</a:t>
            </a:r>
            <a:r>
              <a:rPr lang="en-US" sz="25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⋃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∑</a:t>
            </a:r>
            <a:r>
              <a:rPr lang="en-US" sz="25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⋃ …..</a:t>
            </a:r>
          </a:p>
          <a:p>
            <a:pPr marL="852488" lvl="5" indent="-395288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two variations of power of an alphabet are </a:t>
            </a:r>
          </a:p>
          <a:p>
            <a:pPr marL="1377950" lvl="5" indent="-463550">
              <a:lnSpc>
                <a:spcPct val="150000"/>
              </a:lnSpc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nonempty strings from alphabet ∑ is denoted as ∑</a:t>
            </a:r>
            <a:r>
              <a:rPr lang="en-US" sz="2500" i="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marL="914400" lvl="5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500" i="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500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⋃ ∑</a:t>
            </a:r>
            <a:r>
              <a:rPr lang="en-US" sz="2500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⋃ ∑</a:t>
            </a:r>
            <a:r>
              <a:rPr lang="en-US" sz="2500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⋃ 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….. (</a:t>
            </a:r>
            <a:r>
              <a:rPr lang="en-US" sz="2500" i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Kleene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Plus)</a:t>
            </a:r>
          </a:p>
          <a:p>
            <a:pPr marL="1377950" lvl="5" indent="-463550">
              <a:lnSpc>
                <a:spcPct val="150000"/>
              </a:lnSpc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∑* = ∑</a:t>
            </a:r>
            <a:r>
              <a:rPr lang="en-US" sz="2500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⋃{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ℇ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(</a:t>
            </a:r>
            <a:r>
              <a:rPr lang="en-US" sz="2500" i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Kleene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Closure)</a:t>
            </a:r>
            <a:endParaRPr lang="en-US" sz="25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488" lvl="5" indent="-395288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488" lvl="5" indent="-395288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endParaRPr lang="en-US" sz="25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41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706"/>
            <a:ext cx="10515600" cy="649492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x and y be strings. Then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the concatenation of x and y, that is, the string formed by making a copy of x and following it by a copy of y.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x is the string composed of i symbols x = a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y is the string composed of j symbols y = b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5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string of length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…a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5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5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25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x=1101 and y = 0011 then</a:t>
            </a:r>
          </a:p>
          <a:p>
            <a:pPr marL="120650"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11010011 and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00111101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empty string, ℇ , is the identity for concatenation of strings.</a:t>
            </a:r>
          </a:p>
          <a:p>
            <a:pPr marL="12065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So, </a:t>
            </a:r>
            <a:r>
              <a:rPr lang="en-US" sz="2400" dirty="0" smtClean="0"/>
              <a:t>∀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(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xℇ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ℇ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x)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Concatenation, as a function defined on strings, is associative.</a:t>
            </a:r>
          </a:p>
          <a:p>
            <a:pPr marL="120650" indent="0" algn="just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So, </a:t>
            </a:r>
            <a:r>
              <a:rPr lang="en-US" sz="2400" dirty="0" smtClean="0"/>
              <a:t>∀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t, w	((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)w = s(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908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364"/>
            <a:ext cx="10515600" cy="654871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en-US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of strings all of which are chosen from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∑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*, where ∑ is a particular alphabet, is called a language.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Language is subset of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∑*,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L </a:t>
            </a:r>
            <a:r>
              <a:rPr lang="en-US" sz="2800" dirty="0"/>
              <a:t>⊆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∑*</a:t>
            </a:r>
          </a:p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987552" lvl="1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of all strings consisting of n 0’s followed by n 1’s, for some n ≥ 0 : 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ℇ, 01, 0011, 000111,….}</a:t>
            </a:r>
          </a:p>
          <a:p>
            <a:pPr marL="651002" lvl="1" indent="0" algn="just">
              <a:lnSpc>
                <a:spcPct val="150000"/>
              </a:lnSpc>
              <a:buNone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L = {0</a:t>
            </a:r>
            <a:r>
              <a:rPr lang="en-US" sz="2500" i="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i="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| n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0}</a:t>
            </a:r>
            <a:endParaRPr lang="en-US" sz="2500" i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7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364"/>
            <a:ext cx="10515600" cy="6548717"/>
          </a:xfrm>
        </p:spPr>
        <p:txBody>
          <a:bodyPr>
            <a:noAutofit/>
          </a:bodyPr>
          <a:lstStyle/>
          <a:p>
            <a:pPr marL="457200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987552" lvl="1" indent="-3365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strings of 0’s and 1’s with equal number of each : {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ℇ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01, 10, 0011, 1001, 1100, 0101,….}</a:t>
            </a:r>
          </a:p>
          <a:p>
            <a:pPr marL="651002" lvl="1" indent="0" algn="just">
              <a:lnSpc>
                <a:spcPct val="150000"/>
              </a:lnSpc>
              <a:buNone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L = {w | w consists of an equal number of 0’s and 1’s}</a:t>
            </a:r>
          </a:p>
          <a:p>
            <a:pPr marL="993902" lvl="1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binary numbers whose value is a prime: {10, 11, 101, 111, 1011,…}</a:t>
            </a:r>
          </a:p>
          <a:p>
            <a:pPr marL="651002" lvl="1" indent="0" algn="just">
              <a:lnSpc>
                <a:spcPct val="150000"/>
              </a:lnSpc>
              <a:buNone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L 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{w | w 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binary integer that is prime}</a:t>
            </a:r>
          </a:p>
          <a:p>
            <a:pPr marL="993902" lvl="1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Language containing an empty string 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ℇ 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denoted by L = {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ℇ</a:t>
            </a: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993902" lvl="1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empty language is denoted by Ø, i.e., L = {} or 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en-US" sz="2500" i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3902" lvl="1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000" b="1" dirty="0" smtClean="0">
                <a:solidFill>
                  <a:srgbClr val="FF0000"/>
                </a:solidFill>
              </a:rPr>
              <a:t>Ø ≠</a:t>
            </a:r>
            <a:r>
              <a:rPr lang="en-US" sz="3000" b="1" i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3000" b="1" i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ℇ}</a:t>
            </a:r>
          </a:p>
          <a:p>
            <a:pPr marL="993902" lvl="1" indent="-3429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500" i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3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C2C5-948C-47A9-87B8-73EF09F8A897}" type="slidenum">
              <a:rPr lang="en-US" smtClean="0"/>
              <a:t>44</a:t>
            </a:fld>
            <a:endParaRPr lang="en-US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744" y="730155"/>
            <a:ext cx="7427686" cy="5257800"/>
          </a:xfrm>
        </p:spPr>
      </p:pic>
    </p:spTree>
    <p:extLst>
      <p:ext uri="{BB962C8B-B14F-4D97-AF65-F5344CB8AC3E}">
        <p14:creationId xmlns:p14="http://schemas.microsoft.com/office/powerpoint/2010/main" val="247308370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4216</TotalTime>
  <Words>2343</Words>
  <Application>Microsoft Office PowerPoint</Application>
  <PresentationFormat>Custom</PresentationFormat>
  <Paragraphs>365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Crop</vt:lpstr>
      <vt:lpstr>THEORY OF COMPUTATION  BCS503</vt:lpstr>
      <vt:lpstr>Assessment Details  (CIE and SEE)</vt:lpstr>
      <vt:lpstr>Continuous Internal Evaluation</vt:lpstr>
      <vt:lpstr>Semester End Examination</vt:lpstr>
      <vt:lpstr>Instructions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DIFFERENNT TYPES OF GRAMMARS &amp; LANGUAGES</vt:lpstr>
      <vt:lpstr>PowerPoint Presentation</vt:lpstr>
      <vt:lpstr>PowerPoint Presentation</vt:lpstr>
      <vt:lpstr>APPLICATIONS</vt:lpstr>
      <vt:lpstr>PowerPoint Presentation</vt:lpstr>
      <vt:lpstr>PowerPoint Presentation</vt:lpstr>
      <vt:lpstr>SYLLABUS</vt:lpstr>
      <vt:lpstr>Continued..</vt:lpstr>
      <vt:lpstr>Continued..</vt:lpstr>
      <vt:lpstr>Continued..</vt:lpstr>
      <vt:lpstr>Continued..</vt:lpstr>
      <vt:lpstr>Text  Books</vt:lpstr>
      <vt:lpstr>REFERENCE BOOKS</vt:lpstr>
      <vt:lpstr>Web links and Video Lectures  (e-Resources)</vt:lpstr>
      <vt:lpstr>COURSE LEARNING OBJECTIVES</vt:lpstr>
      <vt:lpstr>COURSE OUTCOMES</vt:lpstr>
      <vt:lpstr>SET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- 1 </vt:lpstr>
      <vt:lpstr>PowerPoint Presentation</vt:lpstr>
      <vt:lpstr>FUNCTIONS ON STRINGS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Thanuja Narasimahamurthy</dc:creator>
  <cp:lastModifiedBy>Vinayaka</cp:lastModifiedBy>
  <cp:revision>210</cp:revision>
  <dcterms:created xsi:type="dcterms:W3CDTF">2019-07-29T04:20:43Z</dcterms:created>
  <dcterms:modified xsi:type="dcterms:W3CDTF">2024-09-18T17:10:22Z</dcterms:modified>
</cp:coreProperties>
</file>